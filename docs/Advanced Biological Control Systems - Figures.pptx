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50"/>
    <p:restoredTop sz="97155"/>
  </p:normalViewPr>
  <p:slideViewPr>
    <p:cSldViewPr snapToGrid="0" snapToObjects="1">
      <p:cViewPr varScale="1">
        <p:scale>
          <a:sx n="128" d="100"/>
          <a:sy n="128" d="100"/>
        </p:scale>
        <p:origin x="5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AE1A8-6445-7145-93D1-DF13F3D878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149FEA-68DA-854C-8C1F-7684339E37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B88AF1-C7EF-0547-8B2E-68750D9244FD}"/>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5" name="Footer Placeholder 4">
            <a:extLst>
              <a:ext uri="{FF2B5EF4-FFF2-40B4-BE49-F238E27FC236}">
                <a16:creationId xmlns:a16="http://schemas.microsoft.com/office/drawing/2014/main" id="{49A21B6D-4053-3F4A-AE57-5C90C7CEF2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295F62-47F6-E345-BEA0-0308A9484256}"/>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2101638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43D7F-03F1-054B-A4C9-699FBA4532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78B9B1-A34B-A14D-AF5E-F658738EC6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959814-69F7-3E49-971E-DFB9C5C173EE}"/>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5" name="Footer Placeholder 4">
            <a:extLst>
              <a:ext uri="{FF2B5EF4-FFF2-40B4-BE49-F238E27FC236}">
                <a16:creationId xmlns:a16="http://schemas.microsoft.com/office/drawing/2014/main" id="{F05C1860-742E-C441-9AC1-128E42FEA9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FC68C8-D7DE-F64C-9301-3CC42D616A2C}"/>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3276699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0CA8-A7F7-EC41-A89F-5830A57EF6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BCD86F-DABE-4447-B7A1-708E90FDFF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F9E9AE-4C6C-454F-B187-614D97D100FE}"/>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5" name="Footer Placeholder 4">
            <a:extLst>
              <a:ext uri="{FF2B5EF4-FFF2-40B4-BE49-F238E27FC236}">
                <a16:creationId xmlns:a16="http://schemas.microsoft.com/office/drawing/2014/main" id="{8C9F1F40-68BB-064D-8F5A-A535472F5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3938A-E04C-B440-9BC0-3FDF9F9F4F47}"/>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1337859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CAC62-5307-E644-AAAD-1A9E856A88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E674D-4279-D34E-AD38-5841B03F82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DFBFB4-E4E4-9641-9306-C1941EA7B1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484D32-0632-D24F-88AC-0110A765B36B}"/>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6" name="Footer Placeholder 5">
            <a:extLst>
              <a:ext uri="{FF2B5EF4-FFF2-40B4-BE49-F238E27FC236}">
                <a16:creationId xmlns:a16="http://schemas.microsoft.com/office/drawing/2014/main" id="{27455D8C-7218-A249-91D5-18586992FD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811ABA-F89C-3E4C-A78A-B9C68FDED06A}"/>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416339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8C7C-376A-DA49-A07B-D4E0F19965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FE6C4A-0C78-5347-8AA7-D0DE658EF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6A27A3-0A18-7246-81D6-A0E5415A23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2083D3-461B-524B-9A91-B3AAED95AC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44ADF3-B1EC-3343-924D-E41644E1C4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96E972-3F0F-0343-BD4B-91B5BDAF36CB}"/>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8" name="Footer Placeholder 7">
            <a:extLst>
              <a:ext uri="{FF2B5EF4-FFF2-40B4-BE49-F238E27FC236}">
                <a16:creationId xmlns:a16="http://schemas.microsoft.com/office/drawing/2014/main" id="{E75F1714-E9E2-4A4A-BC9C-2A6A251C3E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7D01CD-DB83-794A-8F1D-633D9B9DEC85}"/>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1427462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43684-425F-F24E-896B-74B143E431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F91B7F-90F3-3D4A-954E-01B32C7E6D7D}"/>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4" name="Footer Placeholder 3">
            <a:extLst>
              <a:ext uri="{FF2B5EF4-FFF2-40B4-BE49-F238E27FC236}">
                <a16:creationId xmlns:a16="http://schemas.microsoft.com/office/drawing/2014/main" id="{CC16A317-3337-D24E-A11C-37597EE132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834593-2816-6A42-ABA2-5509159AE0C2}"/>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2723619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311B65-893C-6B46-ADD1-54DFE48524D0}"/>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3" name="Footer Placeholder 2">
            <a:extLst>
              <a:ext uri="{FF2B5EF4-FFF2-40B4-BE49-F238E27FC236}">
                <a16:creationId xmlns:a16="http://schemas.microsoft.com/office/drawing/2014/main" id="{442E8445-B753-8742-B6C5-3F9FAAC74C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297640-5594-B445-9133-7B146595D6A7}"/>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1504594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7A32F-4F36-274B-A8EF-E1AD0CF3AE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E25634-60E0-424C-A67A-869FF1DCBF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3EEBF9-ECAE-2847-864D-77FC4F47E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64ED1B-FB09-954B-9DFB-A9EE48F42314}"/>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6" name="Footer Placeholder 5">
            <a:extLst>
              <a:ext uri="{FF2B5EF4-FFF2-40B4-BE49-F238E27FC236}">
                <a16:creationId xmlns:a16="http://schemas.microsoft.com/office/drawing/2014/main" id="{4FD80C73-41F9-D846-8867-7091073803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A0179-970A-7A4B-89EC-0B7F03C517C5}"/>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211607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CC4B6-9A7A-9147-934E-3F9875A363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8718B5-3EAB-904F-ADF3-E5A7001873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BCEC18-BA39-F244-9637-E208B7DAB7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27249B-FA4C-7043-8992-4057210A6A2D}"/>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6" name="Footer Placeholder 5">
            <a:extLst>
              <a:ext uri="{FF2B5EF4-FFF2-40B4-BE49-F238E27FC236}">
                <a16:creationId xmlns:a16="http://schemas.microsoft.com/office/drawing/2014/main" id="{FDCCE4A6-0131-5B41-BB0C-321A8D1D53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D060E0-F5CE-4A49-B849-7D66CAFD93DB}"/>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2663194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484A4-A701-1C45-A895-E5741F3807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A89059-4646-1D48-9FC1-E066DDC6B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36536-94B3-2B4C-995C-A7F2B69EC1E7}"/>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5" name="Footer Placeholder 4">
            <a:extLst>
              <a:ext uri="{FF2B5EF4-FFF2-40B4-BE49-F238E27FC236}">
                <a16:creationId xmlns:a16="http://schemas.microsoft.com/office/drawing/2014/main" id="{DD314EBB-30A6-D748-A80B-25EC4458ED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325C67-860B-DE4E-8B0F-5FAAF1169BB3}"/>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1489175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1740A3-0C6B-DD48-98F1-F21F1D353B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016796-FFF9-4A4C-88D0-A908FC89BD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031ADB-66C3-FF4F-8D3B-717B2B229E75}"/>
              </a:ext>
            </a:extLst>
          </p:cNvPr>
          <p:cNvSpPr>
            <a:spLocks noGrp="1"/>
          </p:cNvSpPr>
          <p:nvPr>
            <p:ph type="dt" sz="half" idx="10"/>
          </p:nvPr>
        </p:nvSpPr>
        <p:spPr/>
        <p:txBody>
          <a:bodyPr/>
          <a:lstStyle/>
          <a:p>
            <a:fld id="{7C2E31FC-62A1-354D-9EAE-1878143CD131}" type="datetimeFigureOut">
              <a:rPr lang="en-US" smtClean="0"/>
              <a:t>11/24/25</a:t>
            </a:fld>
            <a:endParaRPr lang="en-US"/>
          </a:p>
        </p:txBody>
      </p:sp>
      <p:sp>
        <p:nvSpPr>
          <p:cNvPr id="5" name="Footer Placeholder 4">
            <a:extLst>
              <a:ext uri="{FF2B5EF4-FFF2-40B4-BE49-F238E27FC236}">
                <a16:creationId xmlns:a16="http://schemas.microsoft.com/office/drawing/2014/main" id="{0F81EB51-0B67-9D4A-A53E-61AEE6C829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2C31DF-0674-7B4E-B670-661378D7AF52}"/>
              </a:ext>
            </a:extLst>
          </p:cNvPr>
          <p:cNvSpPr>
            <a:spLocks noGrp="1"/>
          </p:cNvSpPr>
          <p:nvPr>
            <p:ph type="sldNum" sz="quarter" idx="12"/>
          </p:nvPr>
        </p:nvSpPr>
        <p:spPr/>
        <p:txBody>
          <a:bodyPr/>
          <a:lstStyle/>
          <a:p>
            <a:fld id="{FC214F9F-DED4-6E4C-9BF3-0A9CE5EC3796}" type="slidenum">
              <a:rPr lang="en-US" smtClean="0"/>
              <a:t>‹#›</a:t>
            </a:fld>
            <a:endParaRPr lang="en-US"/>
          </a:p>
        </p:txBody>
      </p:sp>
    </p:spTree>
    <p:extLst>
      <p:ext uri="{BB962C8B-B14F-4D97-AF65-F5344CB8AC3E}">
        <p14:creationId xmlns:p14="http://schemas.microsoft.com/office/powerpoint/2010/main" val="738728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B002D6-2F74-5841-B8F0-FCE587CDAE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3A2FF7-68AB-3445-8017-8D6549EDED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7178-64A8-B84B-8290-CFB58C4F9E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2E31FC-62A1-354D-9EAE-1878143CD131}" type="datetimeFigureOut">
              <a:rPr lang="en-US" smtClean="0"/>
              <a:t>11/24/25</a:t>
            </a:fld>
            <a:endParaRPr lang="en-US"/>
          </a:p>
        </p:txBody>
      </p:sp>
      <p:sp>
        <p:nvSpPr>
          <p:cNvPr id="5" name="Footer Placeholder 4">
            <a:extLst>
              <a:ext uri="{FF2B5EF4-FFF2-40B4-BE49-F238E27FC236}">
                <a16:creationId xmlns:a16="http://schemas.microsoft.com/office/drawing/2014/main" id="{8D2CA508-95F7-4F47-ADBB-B33CF19CA2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C905C9-0CE4-A84B-AA1C-18CC19D64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214F9F-DED4-6E4C-9BF3-0A9CE5EC3796}" type="slidenum">
              <a:rPr lang="en-US" smtClean="0"/>
              <a:t>‹#›</a:t>
            </a:fld>
            <a:endParaRPr lang="en-US"/>
          </a:p>
        </p:txBody>
      </p:sp>
    </p:spTree>
    <p:extLst>
      <p:ext uri="{BB962C8B-B14F-4D97-AF65-F5344CB8AC3E}">
        <p14:creationId xmlns:p14="http://schemas.microsoft.com/office/powerpoint/2010/main" val="243079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573808F-AE83-A14C-88E7-7020DAC01F3A}"/>
              </a:ext>
            </a:extLst>
          </p:cNvPr>
          <p:cNvSpPr/>
          <p:nvPr/>
        </p:nvSpPr>
        <p:spPr>
          <a:xfrm>
            <a:off x="1832362" y="1114898"/>
            <a:ext cx="8321617" cy="2601803"/>
          </a:xfrm>
          <a:prstGeom prst="rect">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dvances in management of type 1 diabetes mellitus">
            <a:extLst>
              <a:ext uri="{FF2B5EF4-FFF2-40B4-BE49-F238E27FC236}">
                <a16:creationId xmlns:a16="http://schemas.microsoft.com/office/drawing/2014/main" id="{E8C4ED05-FD3C-B443-9E1F-00CFD40AF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7113" y="1822638"/>
            <a:ext cx="2431680" cy="15270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gulatory control loops of the modeled production bioreactor. The dynamics of the loops in red will be captured in our model.">
            <a:extLst>
              <a:ext uri="{FF2B5EF4-FFF2-40B4-BE49-F238E27FC236}">
                <a16:creationId xmlns:a16="http://schemas.microsoft.com/office/drawing/2014/main" id="{3257C97D-A15E-B64C-A739-03A837C4BF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3852" y="1579362"/>
            <a:ext cx="1863017" cy="201364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7D39E13-3D0B-C442-9BB4-8DF4D73BEDDB}"/>
              </a:ext>
            </a:extLst>
          </p:cNvPr>
          <p:cNvSpPr txBox="1"/>
          <p:nvPr/>
        </p:nvSpPr>
        <p:spPr>
          <a:xfrm>
            <a:off x="7878255" y="1169902"/>
            <a:ext cx="1549399" cy="369332"/>
          </a:xfrm>
          <a:prstGeom prst="rect">
            <a:avLst/>
          </a:prstGeom>
          <a:noFill/>
        </p:spPr>
        <p:txBody>
          <a:bodyPr wrap="none" rtlCol="0">
            <a:spAutoFit/>
          </a:bodyPr>
          <a:lstStyle/>
          <a:p>
            <a:r>
              <a:rPr lang="en-US" dirty="0">
                <a:solidFill>
                  <a:schemeClr val="bg1"/>
                </a:solidFill>
              </a:rPr>
              <a:t>Insulin Control</a:t>
            </a:r>
          </a:p>
        </p:txBody>
      </p:sp>
      <p:sp>
        <p:nvSpPr>
          <p:cNvPr id="9" name="TextBox 8">
            <a:extLst>
              <a:ext uri="{FF2B5EF4-FFF2-40B4-BE49-F238E27FC236}">
                <a16:creationId xmlns:a16="http://schemas.microsoft.com/office/drawing/2014/main" id="{2D073C2A-511F-B947-B98A-F27B468594B2}"/>
              </a:ext>
            </a:extLst>
          </p:cNvPr>
          <p:cNvSpPr txBox="1"/>
          <p:nvPr/>
        </p:nvSpPr>
        <p:spPr>
          <a:xfrm>
            <a:off x="2131349" y="1169902"/>
            <a:ext cx="1908023" cy="369332"/>
          </a:xfrm>
          <a:prstGeom prst="rect">
            <a:avLst/>
          </a:prstGeom>
          <a:noFill/>
        </p:spPr>
        <p:txBody>
          <a:bodyPr wrap="none" rtlCol="0">
            <a:spAutoFit/>
          </a:bodyPr>
          <a:lstStyle/>
          <a:p>
            <a:r>
              <a:rPr lang="en-US" dirty="0">
                <a:solidFill>
                  <a:schemeClr val="bg1"/>
                </a:solidFill>
              </a:rPr>
              <a:t>Bioreactor Control</a:t>
            </a:r>
          </a:p>
        </p:txBody>
      </p:sp>
      <p:sp>
        <p:nvSpPr>
          <p:cNvPr id="10" name="TextBox 9">
            <a:extLst>
              <a:ext uri="{FF2B5EF4-FFF2-40B4-BE49-F238E27FC236}">
                <a16:creationId xmlns:a16="http://schemas.microsoft.com/office/drawing/2014/main" id="{01892F8D-06E0-A548-9672-E15C475FDA20}"/>
              </a:ext>
            </a:extLst>
          </p:cNvPr>
          <p:cNvSpPr txBox="1"/>
          <p:nvPr/>
        </p:nvSpPr>
        <p:spPr>
          <a:xfrm>
            <a:off x="4584551" y="1169902"/>
            <a:ext cx="2357440" cy="369332"/>
          </a:xfrm>
          <a:prstGeom prst="rect">
            <a:avLst/>
          </a:prstGeom>
          <a:noFill/>
        </p:spPr>
        <p:txBody>
          <a:bodyPr wrap="none" rtlCol="0">
            <a:spAutoFit/>
          </a:bodyPr>
          <a:lstStyle/>
          <a:p>
            <a:r>
              <a:rPr lang="en-US" dirty="0">
                <a:solidFill>
                  <a:schemeClr val="bg1"/>
                </a:solidFill>
              </a:rPr>
              <a:t>Medical Device Control</a:t>
            </a:r>
          </a:p>
        </p:txBody>
      </p:sp>
      <p:sp>
        <p:nvSpPr>
          <p:cNvPr id="5" name="TextBox 4">
            <a:extLst>
              <a:ext uri="{FF2B5EF4-FFF2-40B4-BE49-F238E27FC236}">
                <a16:creationId xmlns:a16="http://schemas.microsoft.com/office/drawing/2014/main" id="{0B4FAE12-3204-1E4E-890B-0B34ABE43012}"/>
              </a:ext>
            </a:extLst>
          </p:cNvPr>
          <p:cNvSpPr txBox="1"/>
          <p:nvPr/>
        </p:nvSpPr>
        <p:spPr>
          <a:xfrm>
            <a:off x="1677167" y="22185"/>
            <a:ext cx="7400231" cy="461665"/>
          </a:xfrm>
          <a:prstGeom prst="rect">
            <a:avLst/>
          </a:prstGeom>
          <a:noFill/>
        </p:spPr>
        <p:txBody>
          <a:bodyPr wrap="none" rtlCol="0">
            <a:spAutoFit/>
          </a:bodyPr>
          <a:lstStyle/>
          <a:p>
            <a:r>
              <a:rPr lang="en-US" sz="2400" b="1" dirty="0"/>
              <a:t>BIOEN 438/538: Biomedical Control Systems Engineering</a:t>
            </a:r>
          </a:p>
        </p:txBody>
      </p:sp>
      <p:sp>
        <p:nvSpPr>
          <p:cNvPr id="14" name="Rectangle 13">
            <a:extLst>
              <a:ext uri="{FF2B5EF4-FFF2-40B4-BE49-F238E27FC236}">
                <a16:creationId xmlns:a16="http://schemas.microsoft.com/office/drawing/2014/main" id="{D18C52F0-E719-0A4B-9F04-20A54774FD17}"/>
              </a:ext>
            </a:extLst>
          </p:cNvPr>
          <p:cNvSpPr/>
          <p:nvPr/>
        </p:nvSpPr>
        <p:spPr>
          <a:xfrm>
            <a:off x="1832361" y="3233522"/>
            <a:ext cx="2481330" cy="40512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4358B3C-177A-0A4A-9B39-95937CE66278}"/>
              </a:ext>
            </a:extLst>
          </p:cNvPr>
          <p:cNvSpPr txBox="1"/>
          <p:nvPr/>
        </p:nvSpPr>
        <p:spPr>
          <a:xfrm>
            <a:off x="1832362" y="3834437"/>
            <a:ext cx="8447435" cy="1815882"/>
          </a:xfrm>
          <a:prstGeom prst="rect">
            <a:avLst/>
          </a:prstGeom>
          <a:noFill/>
        </p:spPr>
        <p:txBody>
          <a:bodyPr wrap="square" rtlCol="0">
            <a:spAutoFit/>
          </a:bodyPr>
          <a:lstStyle/>
          <a:p>
            <a:r>
              <a:rPr lang="en-US" sz="1400" dirty="0"/>
              <a:t>Engineers have long used feedback to control unreliable devices and regulate complex processes. Applications in biology include bioreactors, medical devices, and the analysis of biochemical networks This course teaches the basics of control engineering to bioengineers and allied disciplines. Some learning objectives are:</a:t>
            </a:r>
          </a:p>
          <a:p>
            <a:pPr marL="171450" indent="-171450" fontAlgn="base">
              <a:buFont typeface="Arial" panose="020B0604020202020204" pitchFamily="34" charset="0"/>
              <a:buChar char="•"/>
            </a:pPr>
            <a:r>
              <a:rPr lang="en-US" sz="1400" dirty="0"/>
              <a:t>build PID controllers for in silico biological systems;</a:t>
            </a:r>
          </a:p>
          <a:p>
            <a:pPr marL="171450" indent="-171450" fontAlgn="base">
              <a:buFont typeface="Arial" panose="020B0604020202020204" pitchFamily="34" charset="0"/>
              <a:buChar char="•"/>
            </a:pPr>
            <a:r>
              <a:rPr lang="en-US" sz="1400" dirty="0"/>
              <a:t>design PID controllers using root locus analysis;</a:t>
            </a:r>
          </a:p>
          <a:p>
            <a:pPr marL="171450" indent="-171450" fontAlgn="base">
              <a:buFont typeface="Arial" panose="020B0604020202020204" pitchFamily="34" charset="0"/>
              <a:buChar char="•"/>
            </a:pPr>
            <a:r>
              <a:rPr lang="en-US" sz="1400" dirty="0"/>
              <a:t>&lt;add objective&gt;</a:t>
            </a:r>
          </a:p>
          <a:p>
            <a:pPr marL="171450" indent="-171450" fontAlgn="base">
              <a:buFont typeface="Arial" panose="020B0604020202020204" pitchFamily="34" charset="0"/>
              <a:buChar char="•"/>
            </a:pPr>
            <a:r>
              <a:rPr lang="en-US" sz="1400" dirty="0"/>
              <a:t>&lt;add objective&gt;</a:t>
            </a:r>
          </a:p>
          <a:p>
            <a:r>
              <a:rPr lang="en-US" sz="1400" dirty="0"/>
              <a:t>Prerequisites: BIOEN 336 (Bioengineering systems &amp; control) or equivalent.</a:t>
            </a:r>
          </a:p>
        </p:txBody>
      </p:sp>
      <p:pic>
        <p:nvPicPr>
          <p:cNvPr id="1036" name="Picture 12" descr="eScience Institute">
            <a:extLst>
              <a:ext uri="{FF2B5EF4-FFF2-40B4-BE49-F238E27FC236}">
                <a16:creationId xmlns:a16="http://schemas.microsoft.com/office/drawing/2014/main" id="{F37CE404-0691-7749-B1B3-ACD2A3B186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1837" y="6147071"/>
            <a:ext cx="2614723" cy="420975"/>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University Of Washington Department Of Bioengineering - Oval, HD Png  Download - kindpng">
            <a:extLst>
              <a:ext uri="{FF2B5EF4-FFF2-40B4-BE49-F238E27FC236}">
                <a16:creationId xmlns:a16="http://schemas.microsoft.com/office/drawing/2014/main" id="{F51473F1-2E78-404D-BC6C-CF578C29AE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2113" y="6164605"/>
            <a:ext cx="1530054" cy="49056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Sensors | Free Full-Text | Sensor-Based Assistive Devices for  Visually-Impaired People: Current Status, Challenges, and Future Directions  | HTML">
            <a:extLst>
              <a:ext uri="{FF2B5EF4-FFF2-40B4-BE49-F238E27FC236}">
                <a16:creationId xmlns:a16="http://schemas.microsoft.com/office/drawing/2014/main" id="{17083ED5-1748-2440-8F3B-6A9F8ADA28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4105" y="1575494"/>
            <a:ext cx="1978335" cy="202138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F4FD381-DB29-6F4D-9A97-B3DB7DA53492}"/>
              </a:ext>
            </a:extLst>
          </p:cNvPr>
          <p:cNvSpPr/>
          <p:nvPr/>
        </p:nvSpPr>
        <p:spPr>
          <a:xfrm>
            <a:off x="1683749" y="392371"/>
            <a:ext cx="8454653" cy="654025"/>
          </a:xfrm>
          <a:prstGeom prst="rect">
            <a:avLst/>
          </a:prstGeom>
        </p:spPr>
        <p:txBody>
          <a:bodyPr wrap="square">
            <a:spAutoFit/>
          </a:bodyPr>
          <a:lstStyle/>
          <a:p>
            <a:r>
              <a:rPr lang="en-US" sz="1400" dirty="0">
                <a:solidFill>
                  <a:srgbClr val="222222"/>
                </a:solidFill>
                <a:latin typeface="Arial" panose="020B0604020202020204" pitchFamily="34" charset="0"/>
              </a:rPr>
              <a:t>Winter, 2026. MW 1:00 – 2:20.</a:t>
            </a:r>
          </a:p>
          <a:p>
            <a:r>
              <a:rPr lang="en-US" sz="1200" dirty="0"/>
              <a:t>Instructors: Joseph L. Hellerstein (eScience Institute, Bioengineering); Herbert S Sauro (Bioengineering, eScience Institute)</a:t>
            </a:r>
          </a:p>
          <a:p>
            <a:r>
              <a:rPr lang="en-US" sz="1050" dirty="0" err="1"/>
              <a:t>jlheller@uw.edu</a:t>
            </a:r>
            <a:endParaRPr lang="en-US" sz="1200" dirty="0"/>
          </a:p>
        </p:txBody>
      </p:sp>
      <p:pic>
        <p:nvPicPr>
          <p:cNvPr id="1026" name="Picture 2" descr="University of Washington - Global Innovation Exchange">
            <a:extLst>
              <a:ext uri="{FF2B5EF4-FFF2-40B4-BE49-F238E27FC236}">
                <a16:creationId xmlns:a16="http://schemas.microsoft.com/office/drawing/2014/main" id="{7612072B-57B4-A74A-B968-38133B4C94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01883" y="159878"/>
            <a:ext cx="1074677" cy="52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414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8237C714-26B8-FC49-BE6A-21C91FC757B1}"/>
              </a:ext>
            </a:extLst>
          </p:cNvPr>
          <p:cNvPicPr>
            <a:picLocks noChangeAspect="1"/>
          </p:cNvPicPr>
          <p:nvPr/>
        </p:nvPicPr>
        <p:blipFill>
          <a:blip r:embed="rId2"/>
          <a:stretch>
            <a:fillRect/>
          </a:stretch>
        </p:blipFill>
        <p:spPr>
          <a:xfrm>
            <a:off x="826110" y="0"/>
            <a:ext cx="10539779" cy="6858000"/>
          </a:xfrm>
          <a:prstGeom prst="rect">
            <a:avLst/>
          </a:prstGeom>
        </p:spPr>
      </p:pic>
      <p:sp>
        <p:nvSpPr>
          <p:cNvPr id="4" name="TextBox 3">
            <a:extLst>
              <a:ext uri="{FF2B5EF4-FFF2-40B4-BE49-F238E27FC236}">
                <a16:creationId xmlns:a16="http://schemas.microsoft.com/office/drawing/2014/main" id="{90DBD66E-F627-BA4E-BDA0-22C5D615B842}"/>
              </a:ext>
            </a:extLst>
          </p:cNvPr>
          <p:cNvSpPr txBox="1"/>
          <p:nvPr/>
        </p:nvSpPr>
        <p:spPr>
          <a:xfrm>
            <a:off x="8006321" y="1296011"/>
            <a:ext cx="319318" cy="276999"/>
          </a:xfrm>
          <a:prstGeom prst="rect">
            <a:avLst/>
          </a:prstGeom>
          <a:noFill/>
        </p:spPr>
        <p:txBody>
          <a:bodyPr wrap="none" rtlCol="0">
            <a:spAutoFit/>
          </a:bodyPr>
          <a:lstStyle/>
          <a:p>
            <a:r>
              <a:rPr lang="en-US" sz="1200" dirty="0">
                <a:solidFill>
                  <a:srgbClr val="FF0000"/>
                </a:solidFill>
              </a:rPr>
              <a:t>or</a:t>
            </a:r>
          </a:p>
        </p:txBody>
      </p:sp>
      <p:sp>
        <p:nvSpPr>
          <p:cNvPr id="5" name="TextBox 4">
            <a:extLst>
              <a:ext uri="{FF2B5EF4-FFF2-40B4-BE49-F238E27FC236}">
                <a16:creationId xmlns:a16="http://schemas.microsoft.com/office/drawing/2014/main" id="{3E0D6397-D781-6D4E-828A-5CC44EC2253B}"/>
              </a:ext>
            </a:extLst>
          </p:cNvPr>
          <p:cNvSpPr txBox="1"/>
          <p:nvPr/>
        </p:nvSpPr>
        <p:spPr>
          <a:xfrm>
            <a:off x="5676777" y="501355"/>
            <a:ext cx="1194494" cy="276999"/>
          </a:xfrm>
          <a:prstGeom prst="rect">
            <a:avLst/>
          </a:prstGeom>
          <a:noFill/>
        </p:spPr>
        <p:txBody>
          <a:bodyPr wrap="none" rtlCol="0">
            <a:spAutoFit/>
          </a:bodyPr>
          <a:lstStyle/>
          <a:p>
            <a:r>
              <a:rPr lang="en-US" sz="1200" dirty="0">
                <a:solidFill>
                  <a:srgbClr val="FF0000"/>
                </a:solidFill>
              </a:rPr>
              <a:t>Insulin Receptor</a:t>
            </a:r>
          </a:p>
        </p:txBody>
      </p:sp>
      <p:sp>
        <p:nvSpPr>
          <p:cNvPr id="6" name="TextBox 5">
            <a:extLst>
              <a:ext uri="{FF2B5EF4-FFF2-40B4-BE49-F238E27FC236}">
                <a16:creationId xmlns:a16="http://schemas.microsoft.com/office/drawing/2014/main" id="{14222AC0-2FEA-F741-9987-46367EC70E10}"/>
              </a:ext>
            </a:extLst>
          </p:cNvPr>
          <p:cNvSpPr txBox="1"/>
          <p:nvPr/>
        </p:nvSpPr>
        <p:spPr>
          <a:xfrm>
            <a:off x="5265841" y="1059539"/>
            <a:ext cx="1194494" cy="461665"/>
          </a:xfrm>
          <a:prstGeom prst="rect">
            <a:avLst/>
          </a:prstGeom>
          <a:noFill/>
        </p:spPr>
        <p:txBody>
          <a:bodyPr wrap="none" rtlCol="0">
            <a:spAutoFit/>
          </a:bodyPr>
          <a:lstStyle/>
          <a:p>
            <a:r>
              <a:rPr lang="en-US" sz="1200" dirty="0">
                <a:solidFill>
                  <a:srgbClr val="FF0000"/>
                </a:solidFill>
              </a:rPr>
              <a:t>Insulin Receptor</a:t>
            </a:r>
          </a:p>
          <a:p>
            <a:r>
              <a:rPr lang="en-US" sz="1200" dirty="0">
                <a:solidFill>
                  <a:srgbClr val="FF0000"/>
                </a:solidFill>
              </a:rPr>
              <a:t> Substrate</a:t>
            </a:r>
          </a:p>
        </p:txBody>
      </p:sp>
    </p:spTree>
    <p:extLst>
      <p:ext uri="{BB962C8B-B14F-4D97-AF65-F5344CB8AC3E}">
        <p14:creationId xmlns:p14="http://schemas.microsoft.com/office/powerpoint/2010/main" val="3751652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142</Words>
  <Application>Microsoft Macintosh PowerPoint</Application>
  <PresentationFormat>Widescreen</PresentationFormat>
  <Paragraphs>17</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Biological Control System</dc:title>
  <dc:creator>Joseph L. Hellerstein</dc:creator>
  <cp:lastModifiedBy>Joseph Hellerstein</cp:lastModifiedBy>
  <cp:revision>16</cp:revision>
  <dcterms:created xsi:type="dcterms:W3CDTF">2022-02-14T16:48:55Z</dcterms:created>
  <dcterms:modified xsi:type="dcterms:W3CDTF">2025-11-25T03:10:15Z</dcterms:modified>
</cp:coreProperties>
</file>